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51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57400" y="4572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5740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☁️  AWS FOCUS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Networking - AWS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Subnets, Security Groups &amp; Route Tables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288 — Cloud Computing  |  Community College of Philadelphia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154680"/>
            <a:ext cx="3840480" cy="1627632"/>
          </a:xfrm>
          <a:prstGeom prst="roundRect">
            <a:avLst>
              <a:gd name="adj" fmla="val 6742"/>
            </a:avLst>
          </a:prstGeom>
          <a:solidFill>
            <a:srgbClr val="1A2C1A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🔶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</a:rPr>
              <a:t>AWS VPC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F5E3"/>
                </a:solidFill>
              </a:rPr>
              <a:t>Virtual Private Cloud — the industry standard. This week's hands-on platform.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3154680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132336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</a:rPr>
              <a:t>Azure VNet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36008" y="36758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Microsoft's equivalent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Same concept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different name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3154680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132336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</a:rPr>
              <a:t>GCP VPC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36758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Google's equivalent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2008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Same concept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different name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1430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Cloud Network Analogy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53619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Gated communities &amp; apartment buildings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4231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AWS VPC — Core Concepts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81635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Your isolated slice of AWS infrastructure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3703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Public vs. Private Subnets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09651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Who faces the street, who stays hidden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9552" y="11430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CIDR Notation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153619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/16, /24, /32 — the math you need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2860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24231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Security Groups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59552" y="281635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AWS's per-instance firewall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59552" y="3703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Route Tables &amp; Internet Gateways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9552" y="409651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Directing traffic in and out of your VPC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AWS Like a Gated Community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05072" cy="42062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🏘️  The Gated Community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14984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0149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VPC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53896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You own the entire complex. You define the address range (10.0.0.0/16) and control every rule inside.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005072" cy="42062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82896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Individual Buildings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16368" y="1014984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16368" y="10149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Subnet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1453896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Public subnets face the street — internet-accessible. Private subnets are tucked in back — databases, backend apps.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53512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4005072" cy="42062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953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🚪  The Front Gate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008376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30083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Internet Gateway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447288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Attached to your VPC. Only public subnets route through here. Without it, nothing reaches the internet.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2953512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73168" y="2953512"/>
            <a:ext cx="4005072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2896" y="2953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Door Access Cards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16368" y="3008376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16368" y="30083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Security Group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3447288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Each EC2 instance gets its own set of rules. Define exactly which ports and IPs can get in or out.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🔶  AWS VPC — Core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What is a VPC?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152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A Virtual Private Cloud is your own logically isolated section of AWS. You get your own IP address range, subnets, route tables, and network gateways — completely separated from other AWS customers.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65836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65836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01768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Default VPC vs. Custom VPC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01768" y="1152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AWS gives every account a default VPC in each region (172.31.0.0/16). For real workloads, always create a custom VPC — you control the CIDR range, subnet layout, and security posture.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Region &amp; Availability Zones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25526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A VPC lives in one AWS Region (e.g., us-east-1). Subnets live inside Availability Zones (e.g., us-east-1a, 1b). Best practice: spread subnets across at least 2 AZs for high availability.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76148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76148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01768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VPC Components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325526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Every VPC has: subnets, route tables, an internet gateway (optional), security groups, network ACLs, and a DHCP option set. Together these define how traffic flows inside and outside your network.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solidFill>
            <a:srgbClr val="0A203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AWS: VPC  </a:t>
            </a:r>
            <a:r>
              <a:rPr lang="en-US" sz="1200" dirty="0">
                <a:solidFill>
                  <a:srgbClr val="0078D4"/>
                </a:solidFill>
              </a:rPr>
              <a:t>│  Azure: Virtual Network (VNet)  </a:t>
            </a:r>
            <a:r>
              <a:rPr lang="en-US" sz="1200" dirty="0">
                <a:solidFill>
                  <a:srgbClr val="34A853"/>
                </a:solidFill>
              </a:rPr>
              <a:t>│  GCP: VPC (Global by default, unlike AWS)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vs. Private Subnets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77640" cy="43891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🌐  Public Subnet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Has a route to the Internet Gateway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Resources can have public IP addresses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Reachable from the internet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Use for: web servers, load balancers, bastion hosts, NAT Gateway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AWS CIDR example: 10.0.1.0/24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3858768"/>
            <a:ext cx="3273552" cy="685800"/>
          </a:xfrm>
          <a:prstGeom prst="roundRect">
            <a:avLst>
              <a:gd name="adj" fmla="val 10667"/>
            </a:avLst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85876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6608"/>
                </a:solidFill>
              </a:rPr>
              <a:t>⚠️  Still add Security Groups!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D6608"/>
                </a:solidFill>
              </a:rPr>
              <a:t>Public ≠ unprotected.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39776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🔒  Private Subnet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44475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No route to Internet Gateway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Resources have private IPs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NOT reachable from the internet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Use for: RDS databases, app servers, Lambda, internal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AWS CIDR example: 10.0.2.0/24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3858768"/>
            <a:ext cx="3273552" cy="685800"/>
          </a:xfrm>
          <a:prstGeom prst="roundRect">
            <a:avLst>
              <a:gd name="adj" fmla="val 10667"/>
            </a:avLst>
          </a:prstGeom>
          <a:solidFill>
            <a:srgbClr val="E8F8F5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385876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</a:rPr>
              <a:t>✅  Use NAT Gateway (in public subnet)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</a:rPr>
              <a:t>for outbound-only internet access.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 — The Math You Can't Avoid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804672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10.0.0.0</a:t>
            </a:r>
            <a:r>
              <a:rPr lang="en-US" sz="2400" dirty="0">
                <a:solidFill>
                  <a:srgbClr val="6C7A89"/>
                </a:solidFill>
              </a:rPr>
              <a:t>  /  </a:t>
            </a:r>
            <a:r>
              <a:rPr lang="en-US" sz="2400" b="1" dirty="0">
                <a:solidFill>
                  <a:srgbClr val="FF9900"/>
                </a:solidFill>
              </a:rPr>
              <a:t>16</a:t>
            </a:r>
            <a:r>
              <a:rPr lang="en-US" sz="1600" dirty="0">
                <a:solidFill>
                  <a:srgbClr val="1B4F72"/>
                </a:solidFill>
              </a:rPr>
              <a:t>        →  First 16 bits fixed  →  65,536 total addresses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7772400" cy="1447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CIDR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Addresses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Usable Hosts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AWS Use Case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/16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65,536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65,531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Entire VPC (e.g., 10.0.0.0/16)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/24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256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251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Standard subnet (e.g., 10.0.1.0/24)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/28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Small workload or DB subnet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/32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Single host — used in SG rules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3730752"/>
            <a:ext cx="8229600" cy="109728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3776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AWS Tips: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409651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Smaller prefix = bigger network:</a:t>
            </a:r>
            <a:r>
              <a:rPr lang="en-US" sz="1200" dirty="0">
                <a:solidFill>
                  <a:srgbClr val="6C7A89"/>
                </a:solidFill>
              </a:rPr>
              <a:t> /16 holds 65,536 addresses; /28 holds only 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" y="43159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AWS reserves 5 IPs per subnet:</a:t>
            </a:r>
            <a:r>
              <a:rPr lang="en-US" sz="1200" dirty="0">
                <a:solidFill>
                  <a:srgbClr val="6C7A89"/>
                </a:solidFill>
              </a:rPr>
              <a:t> so a /24 gives you 251 usable, not 256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45354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Ranges can't overlap:</a:t>
            </a:r>
            <a:r>
              <a:rPr lang="en-US" sz="1200" dirty="0">
                <a:solidFill>
                  <a:srgbClr val="6C7A89"/>
                </a:solidFill>
              </a:rPr>
              <a:t> 10.0.1.0/24 and 10.0.1.128/25 conflict — plan your CIDR layout first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Groups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92240" y="256032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92240" y="2560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🔶 AWS Focus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86968"/>
            <a:ext cx="822960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8696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Security Groups are virtual firewalls attached to EC2 instances (and other AWS resources). They are STATEFUL — if you allow inbound traffic, the response is automatically allowed out.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Key Properties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Stateful — return traffic automatically allowed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5328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Attached at the instance level, not subnet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035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Default: allow all outbound, deny all inbound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02996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2029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Multiple SGs can be assigned to one instance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3288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5328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No DENY rules — only ALLOW (use NACLs for deny)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3580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3035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Changes take effect immediately — no reboot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02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Sample Inbound Rules — Web Server SG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50208"/>
          <a:ext cx="8229600" cy="1082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0.0.0.0/0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all web traffic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0.0.0.0/0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all 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203.0.113.5/32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IP only —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Azure equivalent: </a:t>
            </a:r>
            <a:r>
              <a:rPr lang="en-US" sz="1100" b="1" dirty="0">
                <a:solidFill>
                  <a:srgbClr val="0078D4"/>
                </a:solidFill>
              </a:rPr>
              <a:t>Network Security Groups (NSGs) — attached to subnet or NIC     </a:t>
            </a:r>
            <a:r>
              <a:rPr lang="en-US" sz="1100" dirty="0">
                <a:solidFill>
                  <a:srgbClr val="6C7A89"/>
                </a:solidFill>
              </a:rPr>
              <a:t>GCP equivalent: </a:t>
            </a:r>
            <a:r>
              <a:rPr lang="en-US" sz="1100" b="1" dirty="0">
                <a:solidFill>
                  <a:srgbClr val="34A853"/>
                </a:solidFill>
              </a:rPr>
              <a:t>Firewall Rules — applied at VPC level using network tags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&amp; Internet Gateways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49440" y="256032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0" y="2560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🔶 AWS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Route 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A set of rules (routes) that determine where network traffic from your subnet is directed. Each subnet must be associated with exactly one route 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Internet Gateway (IGW)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A horizontally scaled, redundant AWS resource attached to your VPC. Allows communication between your VPC and the internet. Attach one IGW per VPC.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NAT Gateway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192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Sits in a PUBLIC subnet. Allows EC2 instances in PRIVATE subnets to initiate outbound internet connections (e.g., yum updates) without being reachable from outside.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Local Route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3251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Automatically created in every route table. Routes traffic between resources within the VPC (10.0.0.0/16 → local). Cannot be deleted.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</a:rPr>
              <a:t>Route Table: Public Subnet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3977640" cy="807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igw-0a1b2c3d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09160" y="24871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Route Table: Private Subnet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825496"/>
          <a:ext cx="3977640" cy="807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nat-0x9y8z7w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709160" y="3767328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0" y="38130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Private EC2 → Internet (outbound only):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46320" y="41330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Private subnet  →  NAT Gateway (public subnet)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46320" y="4480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A853"/>
                </a:solidFill>
              </a:rPr>
              <a:t>→  Internet Gateway  →  Internet 🌐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94360" y="48737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</a:rPr>
              <a:t>Azure: UDR (User Defined Routes)  </a:t>
            </a:r>
            <a:r>
              <a:rPr lang="en-US" sz="1000" b="1" dirty="0">
                <a:solidFill>
                  <a:srgbClr val="34A853"/>
                </a:solidFill>
              </a:rPr>
              <a:t>│  GCP: Cloud Router + Cloud NAT for outbound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AWS 3-Tier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94960" cy="4005072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</a:rPr>
              <a:t>AWS VPC  10.0.0.0/16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029200" cy="987552"/>
          </a:xfrm>
          <a:prstGeom prst="rect">
            <a:avLst/>
          </a:prstGeom>
          <a:solidFill>
            <a:srgbClr val="FFF8EE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Public Subnet  10.0.1.0/24  (us-east-1a)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 EC2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Server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⚖️ ALB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Balancer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58768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58768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NAT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Gateway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331720"/>
            <a:ext cx="502920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368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</a:rPr>
              <a:t>Private Subnet — App  10.0.2.0/24  (us-east-1a)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2615184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2615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EC2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Server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2615184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0" y="2615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EC2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346704"/>
            <a:ext cx="5029200" cy="914400"/>
          </a:xfrm>
          <a:prstGeom prst="rect">
            <a:avLst/>
          </a:prstGeom>
          <a:solidFill>
            <a:srgbClr val="E8F8F5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A853"/>
                </a:solidFill>
              </a:rPr>
              <a:t>Private Subnet — DB  10.0.3.0/24  (us-east-1b)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363931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36393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🗄️ 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63931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0" y="36393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🗄️ 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Replica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868680"/>
            <a:ext cx="27889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9320" y="868680"/>
            <a:ext cx="2788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8076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AWS Design Rules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08192" y="1298448"/>
            <a:ext cx="25420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Web / Load Balancer → Public subnet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App servers → Private subnet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RDS databases → Private subnet (never public)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NAT Gateway lives in the public subnet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Security Groups between every tier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Spread subnets across 2+ AZs for HA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Networking — vs. Azure &amp; GCP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A89"/>
                </a:solidFill>
              </a:rPr>
              <a:t>Same concept, different names. Once you know AWS, the others map directly.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53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AWS Concept 🔶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AWS Term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Azure Equivalent 🔷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GCP Equivalent 🟢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A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Virtual Network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VPC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Virtual Network (VNet)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VPC (global scope)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Subnet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Subnet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Subnet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Subnet (regional)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Instance Firewall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Security Group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NSG (subnet or NIC)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Firewall Rules + tags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Internet Access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Internet Gateway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Internet Gateway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Cloud Router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Outbound Only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NAT Gateway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NAT Gateway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Cloud NAT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Private Link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Direct Connect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ExpressRoute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Dedicated Interconnect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Multi-VPC Hub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Transit Gateway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Virtual WAN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Network Connectivity Center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Subnet Firewall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Network ACL (NACL)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NSG at subnet level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Implied rules + priority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🔶  Lab 5 — What You're Building in AWS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CE3"/>
                </a:solidFill>
              </a:rPr>
              <a:t>This week's lab walks you through building a real AWS VPC from scratch in the AWS Console.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7432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1  ·  3 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Create the VPC &amp; Subnets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Create the VPC &amp; Subnets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Create a custom VPC: 10.0.0.0/16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Create public subnet: 10.0.1.0/24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Create private subnet: 10.0.2.0/24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Attach an Internet Gateway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Update the public route table: 0.0.0.0/0 → IGW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355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73552" y="980518"/>
            <a:ext cx="274320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2  ·  3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6551" y="1145110"/>
            <a:ext cx="2560320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Configure Security Groups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Configure Security Groups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Create web-sg: allow HTTP (80), HTTPS (443), SSH (22/your IP)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Create db-sg: allow MySQL (3306) from web-sg only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Verify Security Group reference (SG-to-SG rule)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No DENY rules needed — implicit deny handles the rest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63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014984"/>
            <a:ext cx="2743200" cy="47548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3  ·  4 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1060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Reflection Questions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Reflection Questions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Why public vs. private for each tier?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How would you allow a private DB outbound access to run updates?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Minimum 100 words per question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CE3"/>
                </a:solidFill>
              </a:rPr>
              <a:t>Week 5 — AWS VPC, Subnets, Security Groups &amp; Route Tables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🏘️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261872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A VPC is your isolated section of AWS. You define the CIDR range, subnets, and all routing rules.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83664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1883664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Public subnets connect via an Internet Gateway. Private subnets stay hidden — use NAT Gateway for outbound-only access.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05456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505456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CIDR /16 = 65,536 addresses (whole VPC). /24 = 256 (one subnet). AWS reserves 5 IPs per subnet.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3127248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Security Groups are stateful, instance-level firewalls. Only ALLOW rules — no explicit deny needed.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374904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Route tables direct traffic. Public subnet route table points 0.0.0.0/0 to the Internet Gateway.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37083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3708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4370832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Real pattern: web server → public, app server → private, RDS database → private. Always.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1578</Words>
  <Application>Microsoft Office PowerPoint</Application>
  <PresentationFormat>On-screen Show (16:9)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288 Week 5 — Networking: VPC, VNet, and Private Networks</dc:title>
  <dc:subject>PptxGenJS Presentation</dc:subject>
  <dc:creator>Professor Sonny Chang</dc:creator>
  <cp:lastModifiedBy>Sonny Chang</cp:lastModifiedBy>
  <cp:revision>3</cp:revision>
  <dcterms:created xsi:type="dcterms:W3CDTF">2026-06-07T22:01:52Z</dcterms:created>
  <dcterms:modified xsi:type="dcterms:W3CDTF">2026-06-07T22:11:58Z</dcterms:modified>
</cp:coreProperties>
</file>