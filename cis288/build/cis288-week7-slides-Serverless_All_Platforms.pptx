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1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57400" y="4572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5740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☁️  ALL 3 PLATFORMS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Lambda, Azure Functions &amp; Cloud Functions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288 — Cloud Computing  |  Community College of Philadelphia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3840480" cy="1627632"/>
          </a:xfrm>
          <a:prstGeom prst="roundRect">
            <a:avLst>
              <a:gd name="adj" fmla="val 6742"/>
            </a:avLst>
          </a:prstGeom>
          <a:solidFill>
            <a:srgbClr val="1A2C1A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🔶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</a:rPr>
              <a:t>AWS Lambda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F5E3"/>
                </a:solidFill>
              </a:rPr>
              <a:t>The serverless pioneer — launched 2014. This week you'll deploy on all three.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3154680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132336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</a:rPr>
              <a:t>Azure Functions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36008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Microsoft's equivalent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Same concept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different name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3154680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13233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GCP Cloud Functions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Google's equivalent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Same concept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different name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1430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Vending Machine Analogy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5361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Pay per snack, not per restaurant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423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What Serverless Actually Means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81635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There ARE servers — you just never see them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703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AWS Lambda — Deep Dive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09651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Functions, handlers, runtimes &amp; limits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9552" y="11430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Triggers &amp; Event Sources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15361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What makes your function run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2860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423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Azure Functions &amp; Cloud Functions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9552" y="281635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Same idea on the other two landlords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59552" y="3703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Pricing — Pay Per Execution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9552" y="409651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Why serverless can cost pennies (or a fortune)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Serverless Like a Vending Machine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05072" cy="42062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🏪  Renting a Restaurant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14984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0149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Traditional: EC2 / VM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You lease the whole building 24/7 — rent is due even at 3 AM when nobody is eating. You handle cleaning, repairs, and staffing.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005072" cy="42062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82896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🥤  The Vending Machine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16368" y="1014984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16368" y="10149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Serverless: Lambda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1453896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You pay only when someone buys a snack. No purchase, no cost. The machine owner handles restocking, power, and repairs.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4005072" cy="42062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953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Coin Goes In, Snack Comes 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00837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Trigger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447288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Someone presses a button (an HTTP request, a file upload, a timer) and the machine runs exactly once for that purchase.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2953512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73168" y="2953512"/>
            <a:ext cx="4005072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2953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The Machine Owner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16368" y="300837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16368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Cloud Provider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3447288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AWS maintains the servers, patches the OS, and scales capacity. Your only job: write the function and pick the trigger.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⚡  Serverless — Core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What is Serverless?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152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Servers still exist — you just never manage them. You upload code (a function); the provider runs it on demand, scales it automatically, and charges only for execution time. Also called FaaS: Functions as a Service.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65836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65836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01768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Stateless by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01768" y="1152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Each function invocation starts fresh — no memory of the last run. Need to remember things? Store state externally: S3, DynamoDB, a database. This is what lets the platform scale to thousands of copies instantly.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Cold Starts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25526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First invocation after idle time must spin up a container — adding 100ms to several seconds of latency. Subsequent calls reuse the warm container. Heavier runtimes (Java, .NET) cold-start slower than Python or Node.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76148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76148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1768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Scaling Without Thinking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325526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One request = one running copy. A thousand simultaneous requests = a thousand copies, automatically. No load balancers to configure, no auto-scaling groups to tune. It simply happens.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solidFill>
            <a:srgbClr val="0A203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 xml:space="preserve">AWS: Lambda  </a:t>
            </a:r>
            <a:r>
              <a:rPr lang="en-US" sz="1200" dirty="0">
                <a:solidFill>
                  <a:srgbClr val="0078D4"/>
                </a:solidFill>
              </a:rPr>
              <a:t xml:space="preserve">│  Azure: Functions  </a:t>
            </a:r>
            <a:r>
              <a:rPr lang="en-US" sz="1200" dirty="0">
                <a:solidFill>
                  <a:srgbClr val="34A853"/>
                </a:solidFill>
              </a:rPr>
              <a:t>│  GCP: Cloud Functions (now Cloud Run functions)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vs. Traditional Compute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77640" cy="43891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🥤  Serverless (Lambda)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Pay per invocation + execution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Scales to zero — costs nothing when idle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Provider patches the OS and runtime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Use for: APIs, file processing, automation, scheduled jobs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Max run time: 15 minutes per invocation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3858768"/>
            <a:ext cx="3273552" cy="685800"/>
          </a:xfrm>
          <a:prstGeom prst="roundRect">
            <a:avLst>
              <a:gd name="adj" fmla="val 10667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5876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6608"/>
                </a:solidFill>
              </a:rPr>
              <a:t>⚠️  Cold starts add latency!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D6608"/>
                </a:solidFill>
              </a:rPr>
              <a:t>Keep functions small and warm.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39776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🏪  Traditional (EC2 / VM)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447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Pay per hour the instance is running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Runs 24/7 unless you stop 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You patch the OS, manage scaling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Use for: long-running apps, databases, legacy software, full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No execution time limit — runs forever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3858768"/>
            <a:ext cx="3273552" cy="685800"/>
          </a:xfrm>
          <a:prstGeom prst="roundRect">
            <a:avLst>
              <a:gd name="adj" fmla="val 10667"/>
            </a:avLst>
          </a:prstGeom>
          <a:solidFill>
            <a:srgbClr val="E8F8F5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385876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</a:rPr>
              <a:t>✅  Pick the right tool per workload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</a:rPr>
              <a:t>many real systems use both.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Limits — The Numbers You Can't Avoid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15</a:t>
            </a:r>
            <a:r>
              <a:rPr lang="en-US" sz="2400" dirty="0">
                <a:solidFill>
                  <a:srgbClr val="6C7A89"/>
                </a:solidFill>
              </a:rPr>
              <a:t xml:space="preserve">  min  </a:t>
            </a:r>
            <a:r>
              <a:rPr lang="en-US" sz="2400" b="1" dirty="0">
                <a:solidFill>
                  <a:srgbClr val="FF9900"/>
                </a:solidFill>
              </a:rPr>
              <a:t>timeout</a:t>
            </a:r>
            <a:r>
              <a:rPr lang="en-US" sz="1600" dirty="0">
                <a:solidFill>
                  <a:srgbClr val="1B4F72"/>
                </a:solidFill>
              </a:rPr>
              <a:t xml:space="preserve">        →  Max execution per invocation  →  design around it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7772400" cy="1447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Workaround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Timeout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15 minutes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Long jobs get killed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Step Functions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Memory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128 MB – 10 GB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CPU scales with memory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Tune for speed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Package size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250 MB unzipped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Big libraries hit limits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Use layers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Concurrency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1,000 default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Spike past it = throttle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Request increase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3776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AWS Tips: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40965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Memory = CPU:</a:t>
            </a:r>
            <a:r>
              <a:rPr lang="en-US" sz="1200" dirty="0">
                <a:solidFill>
                  <a:srgbClr val="6C7A89"/>
                </a:solidFill>
              </a:rPr>
              <a:t xml:space="preserve"> doubling memory doubles CPU — sometimes MORE memory is CHEAPER (runs faster)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43159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Timeout is a guardrail:</a:t>
            </a:r>
            <a:r>
              <a:rPr lang="en-US" sz="1200" dirty="0">
                <a:solidFill>
                  <a:srgbClr val="6C7A89"/>
                </a:solidFill>
              </a:rPr>
              <a:t xml:space="preserve"> set it close to expected runtime so runaway code fails fast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45354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15 minutes is the wall:</a:t>
            </a:r>
            <a:r>
              <a:rPr lang="en-US" sz="1200" dirty="0">
                <a:solidFill>
                  <a:srgbClr val="6C7A89"/>
                </a:solidFill>
              </a:rPr>
              <a:t xml:space="preserve"> need longer? Chain functions with Step Functions or use ECS/Batch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Triggers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92240" y="256032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92240" y="2560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⚡ Event-Driven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86968"/>
            <a:ext cx="822960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8696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A Lambda function does nothing until something triggers it. Triggers are event sources — an HTTP call, a file landing in S3, a database change, a schedule. The event data is passed into your function as input.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Key Properties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One function can have multiple triggers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5328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Event data arrives as JSON in the handler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Async triggers retry automatically on failure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02996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EventBridge schedules work like cron jobs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3288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5328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Each trigger type has its own event format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Failed async events should go to a dead-letter queue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02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Common Lambda Triggers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50208"/>
          <a:ext cx="8229600" cy="1082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Resize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Nightly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 xml:space="preserve">Azure equivalent: </a:t>
            </a:r>
            <a:r>
              <a:rPr lang="en-US" sz="1100" b="1" dirty="0">
                <a:solidFill>
                  <a:srgbClr val="0078D4"/>
                </a:solidFill>
              </a:rPr>
              <a:t xml:space="preserve">Triggers + Bindings (declarative)     </a:t>
            </a:r>
            <a:r>
              <a:rPr lang="en-US" sz="1100" dirty="0">
                <a:solidFill>
                  <a:srgbClr val="6C7A89"/>
                </a:solidFill>
              </a:rPr>
              <a:t xml:space="preserve">GCP equivalent: </a:t>
            </a:r>
            <a:r>
              <a:rPr lang="en-US" sz="1100" b="1" dirty="0">
                <a:solidFill>
                  <a:srgbClr val="34A853"/>
                </a:solidFill>
              </a:rPr>
              <a:t>Eventarc — 90+ event sources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Lambda Function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49440" y="256032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0" y="2560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🔶 AWS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The Handler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The entry point — the function the runtime calls with (event, context). The event holds trigger data (JSON); context holds metadata like remaining time. Everything starts 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The Runtime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The language environment: Python, Node.js, Java, .NET, Go, Ruby — or bring a custom runtime in a container image. Python and Node start fastest; Java and .NET are slower to cold-start.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Environment 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19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Configuration without code changes: bucket names, table names, API endpoints. Encrypt secrets with KMS — or better, pull them from Secrets Manager or Parameter Store at runtime.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The Execution Role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3251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The IAM role your function assumes when it runs (Week 6 knowledge!). Needs s3:GetObject to read a bucket? That permission goes on the execution role — never hard-code keys.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</a:rPr>
              <a:t>Invocation: API Request (Sync)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3977640" cy="807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handler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09160" y="24871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Invocation: S3 Upload (Async)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825496"/>
          <a:ext cx="3977640" cy="807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lands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handler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x2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709160" y="3767328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38130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Every invocation flows through: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4133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Trigger fires (event created)  →  Runtime loads your code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46320" y="4480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</a:rPr>
              <a:t>→  Handler runs  →  Response or retry ⚡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94360" y="48737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</a:rPr>
              <a:t xml:space="preserve">Azure: run.csx / function_app.py  </a:t>
            </a:r>
            <a:r>
              <a:rPr lang="en-US" sz="1000" b="1" dirty="0">
                <a:solidFill>
                  <a:srgbClr val="34A853"/>
                </a:solidFill>
              </a:rPr>
              <a:t>│  GCP: functions_framework entry point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Serverless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94960" cy="4005072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Image-Processing Pipeline — All Serverless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029200" cy="987552"/>
          </a:xfrm>
          <a:prstGeom prst="rect">
            <a:avLst/>
          </a:prstGeom>
          <a:solidFill>
            <a:srgbClr val="FFF8EE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Front Door — Users hit this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🌐 API GW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 endpoint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Lambda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 upload URL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58768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58768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🪣 S3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uploads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331720"/>
            <a:ext cx="502920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368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</a:rPr>
              <a:t>Processing — Runs on upload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2615184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Lambda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Resize image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2615184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0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Lambda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 metadata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346704"/>
            <a:ext cx="5029200" cy="914400"/>
          </a:xfrm>
          <a:prstGeom prst="rect">
            <a:avLst/>
          </a:prstGeom>
          <a:solidFill>
            <a:srgbClr val="E8F8F5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A853"/>
                </a:solidFill>
              </a:rPr>
              <a:t>Storage — Results land here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363931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6393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🪣 S3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Thumbnails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63931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0" y="36393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🗄️ DynamoDB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868680"/>
            <a:ext cx="27889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868680"/>
            <a:ext cx="2788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8076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Serverless Design Rules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08192" y="1298448"/>
            <a:ext cx="25420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Keep functions small — one job per function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Stateless always — state lives in S3/DynamoDB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Use async triggers between stages — they retry free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Execution role per function — least privilege (Week 6!)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Watch cold starts on user-facing paths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Set timeouts tight — fail fast, alert early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— vs. Azure &amp; GCP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A89"/>
                </a:solidFill>
              </a:rPr>
              <a:t>Same concept, different names. Once you know Lambda, the others map directly.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53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Serverless Concept 🔶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AWS Term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Azure Equivalent 🔷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GCP Equivalent 🟢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A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The Service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Lambda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Azure Functions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Run functions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Code Entry Point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Handler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Run method / entry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Entry point function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HTTP Trigger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API Gateway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HTTP trigger binding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HTTPS trigger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Storage Trigger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S3 event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Blob trigger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Storage trigger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Scheduled Run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EventBridge rule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Timer trigger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Scheduler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Max Timeout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15 minutes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5–30 min (plan-based)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60 minutes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Pricing Unit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GB-second + requests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GB-second + executions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GB-second + invocations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Free Tier / Month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1M requests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1M executions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2M invocations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⚡  Lab 7 — What You're Building This Week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CE3"/>
                </a:solidFill>
              </a:rPr>
              <a:t>This week's lab deploys the SAME function on all three platforms — and compares the experience.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7432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1  ·  3 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AWS Lambda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AWS Lambda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Create a Python function: hello-cis288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Trigger: Function URL (HTTP)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Return JSON with your name + timestamp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Test in console, then from your browser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Note the cold start on first call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355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3552" y="980518"/>
            <a:ext cx="274320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2  ·  4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6551" y="1145110"/>
            <a:ext cx="2560320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Functions + GCP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Azure Functions + GCP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Azure: same function, HTTP trigger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GCP: same function, HTTPS trigger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Capture both public URLs working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Compare deploy steps across all three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63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014984"/>
            <a:ext cx="2743200" cy="47548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3  ·  3 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1060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Reflection Questions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Reflection Questions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Which platform had the smoothest deploy? Why?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When would serverless be the WRONG choice?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Minimum 100 words per question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CE3"/>
                </a:solidFill>
              </a:rPr>
              <a:t>Week 7 — Serverless: Lambda, Azure Functions &amp; Cloud Functions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26187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Serverless = pay per execution, scale to zero. Servers exist — the provider manages them, not you.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83664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883664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Functions are stateless and event-driven. A trigger fires, your handler runs, state lives in S3 or a database.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05456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505456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Cold starts are real: first call after idle is slow. Python/Node start fast; Java/.NET are heavier.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3127248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Lambda caps at 15 minutes, 10 GB memory. More memory = more CPU — sometimes bigger is cheaper.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374904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Every function runs with an IAM execution role — Week 6 in action. Least privilege, never hard-coded keys.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7083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437083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All three landlords sell the same machine: Lambda, Azure Functions, Cloud Run functions. Learn one, map the rest.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1578</Words>
  <Application>Microsoft Office PowerPoint</Application>
  <PresentationFormat>On-screen Show (16:9)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288 Week 5 — Networking: VPC, VNet, and Private Networks</dc:title>
  <dc:subject>PptxGenJS Presentation</dc:subject>
  <dc:creator>Professor Sonny Chang</dc:creator>
  <cp:lastModifiedBy>Sonny Chang</cp:lastModifiedBy>
  <cp:revision>3</cp:revision>
  <dcterms:created xsi:type="dcterms:W3CDTF">2026-06-07T22:01:52Z</dcterms:created>
  <dcterms:modified xsi:type="dcterms:W3CDTF">2026-06-07T22:11:58Z</dcterms:modified>
</cp:coreProperties>
</file>