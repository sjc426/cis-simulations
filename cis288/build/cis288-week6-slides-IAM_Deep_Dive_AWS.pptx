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0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1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57400" y="4572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5740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</a:rPr>
              <a:t>☁️  AWS FOCUS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Deep Dive - AWS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Groups, Roles &amp; Policies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288 — Cloud Computing  |  Community College of Philadelphia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154680"/>
            <a:ext cx="3840480" cy="1627632"/>
          </a:xfrm>
          <a:prstGeom prst="roundRect">
            <a:avLst>
              <a:gd name="adj" fmla="val 6742"/>
            </a:avLst>
          </a:prstGeom>
          <a:solidFill>
            <a:srgbClr val="1A2C1A"/>
          </a:solidFill>
          <a:ln w="254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🔶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9900"/>
                </a:solidFill>
              </a:rPr>
              <a:t>AWS IAM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F5E3"/>
                </a:solidFill>
              </a:rPr>
              <a:t>Identity &amp; Access Management — who can do what. This week's hands-on platform.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8D4"/>
                </a:solidFill>
              </a:rPr>
              <a:t>Azure Entra 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36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Microsoft's equivalent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36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3154680"/>
            <a:ext cx="1965960" cy="1627632"/>
          </a:xfrm>
          <a:prstGeom prst="roundRect">
            <a:avLst>
              <a:gd name="adj" fmla="val 5618"/>
            </a:avLst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33101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A853"/>
                </a:solidFill>
              </a:rPr>
              <a:t>GCP Cloud IAM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22008" y="36758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</a:rPr>
              <a:t>Google's equivalent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4206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Same concept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</a:rPr>
              <a:t>different name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The Hotel Keycard Analogy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Master keys, room keys &amp; visitor badges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7043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AWS IAM — Core Concepts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Users, groups, and the root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7043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Policies — Permission Documents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The JSON that decides who can do what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114300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Roles vs. Users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59552" y="153619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Long-term identity vs. temporary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28600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59552" y="242316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Least Privilege &amp; MFA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59552" y="281635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Security habits that prevent breaches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566160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59552" y="3703320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Real-World IAM Patterns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9552" y="409651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>How actual companies structure access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IAM Like a Hotel Keycard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05072" cy="42062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🏨  The Hotel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Your Account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The hotel owns every room and decides the rules. The front desk (IAM) issues every key and tracks who can access what.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73168" y="960120"/>
            <a:ext cx="4005072" cy="4206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82896" y="9601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 Guest Keycards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16368" y="1014984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16368" y="1014984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IAM User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1453896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Each guest gets their own card — never shared. A card opens only the rooms that guest is allowed into, nothing more.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4005072" cy="42062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🎫  Visitor Badges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IAM 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Temporary access that expires. Contractors and services borrow a badge, do the job, and hand it back. No permanent key.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2953512"/>
            <a:ext cx="4005072" cy="178308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73168" y="2953512"/>
            <a:ext cx="4005072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82896" y="29535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The Access Rules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16368" y="3008376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16368" y="300837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AWS: IAM Policy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0328" y="3447288"/>
            <a:ext cx="3730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The written rulebook: which cards open which doors, at what times. In AWS, this rulebook is a JSON document.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🔶  AWS IAM —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What is IAM?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Identity and Access Management controls WHO can sign in (authentication) and WHAT they can do (authorization). Every API call in AWS is checked against IAM. IAM is global — not tied to a region.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65836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65836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01768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Root Account vs. IAM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115214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The root account (the email you signed up with) can do ANYTHING — including delete the account. Lock it away: enable MFA, create an IAM admin user, and never use root for daily 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Groups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Groups are collections of users. Attach policies to groups, not individuals — add a user to Developers and they instantly inherit developer permissions. Person leaves the team? Remove from group. Done.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761488"/>
            <a:ext cx="4160520" cy="1920240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761488"/>
            <a:ext cx="91440" cy="19202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Authentication vs. Authorization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3255264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6EAF8"/>
                </a:solidFill>
              </a:rPr>
              <a:t>Authentication = proving who you are (password, access keys, MFA). Authorization = what you may do (policies). IAM handles both, and both are evaluated on every single request.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solidFill>
            <a:srgbClr val="0A2030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6817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 xml:space="preserve">AWS: IAM  </a:t>
            </a:r>
            <a:r>
              <a:rPr lang="en-US" sz="1200" dirty="0">
                <a:solidFill>
                  <a:srgbClr val="0078D4"/>
                </a:solidFill>
              </a:rPr>
              <a:t xml:space="preserve">│  Azure: Microsoft Entra ID + RBAC  </a:t>
            </a:r>
            <a:r>
              <a:rPr lang="en-US" sz="1200" dirty="0">
                <a:solidFill>
                  <a:srgbClr val="34A853"/>
                </a:solidFill>
              </a:rPr>
              <a:t>│  GCP: Cloud IAM (project-based, unlike AWS)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 vs. IAM Roles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77640" cy="43891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👤  IAM User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Permanent identity with long-term credentials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Password for console + access keys for CLI/API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Belongs to one person — never shared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humans who sign in regularly (admins, developers)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Example: dev-user1 in the Developers group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04672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⚠️  Access keys never expire on their own!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D6608"/>
                </a:solidFill>
              </a:rPr>
              <a:t>Rotate them every 90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3977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39776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18888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🎫  IAM Role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44752"/>
            <a:ext cx="3703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Temporary identity — no permanent credentials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Assumed by users, services, or applications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Credentials auto-expire (15 min – 12 hours)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Use for: EC2 reading S3, Lambda functions, cross-account access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4F72"/>
                </a:solidFill>
              </a:rPr>
              <a:t>Example: ec2-s3-role attached to a web server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858768"/>
            <a:ext cx="3273552" cy="685800"/>
          </a:xfrm>
          <a:prstGeom prst="roundRect">
            <a:avLst>
              <a:gd name="adj" fmla="val 10667"/>
            </a:avLst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3858768"/>
            <a:ext cx="3273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✅  Roles are ALWAYS preferred for services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8449"/>
                </a:solidFill>
              </a:rPr>
              <a:t>never hard-code access keys in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Policies — The JSON You Can't Avoid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896112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"Effect"</a:t>
            </a:r>
            <a:r>
              <a:rPr lang="en-US" sz="2400" dirty="0">
                <a:solidFill>
                  <a:srgbClr val="6C7A89"/>
                </a:solidFill>
              </a:rPr>
              <a:t xml:space="preserve">  :  </a:t>
            </a:r>
            <a:r>
              <a:rPr lang="en-US" sz="2400" b="1" dirty="0">
                <a:solidFill>
                  <a:srgbClr val="FF9900"/>
                </a:solidFill>
              </a:rPr>
              <a:t>"Allow"</a:t>
            </a:r>
            <a:r>
              <a:rPr lang="en-US" sz="1600" dirty="0">
                <a:solidFill>
                  <a:srgbClr val="1B4F72"/>
                </a:solidFill>
              </a:rPr>
              <a:t xml:space="preserve">        →  Plus Action + Resource  →  one policy statement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7772400" cy="14478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Value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Required?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Effect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Allow or deny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"Allow" or "Deny"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Yes — always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Which API calls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"s3:GetObject"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Yes — be specific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Resource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Which resources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arn:aws:s3:::b1/*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Yes — avoid "*"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</a:rPr>
                        <a:t>Condition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Optional conditions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MFA, IP, time of day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D1B2A"/>
                          </a:solidFill>
                        </a:rPr>
                        <a:t>No — optional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57200" y="3730752"/>
            <a:ext cx="8229600" cy="109728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7764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AWS Tips: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1792" y="409651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Explicit Deny always wins:</a:t>
            </a:r>
            <a:r>
              <a:rPr lang="en-US" sz="1200" dirty="0">
                <a:solidFill>
                  <a:srgbClr val="6C7A89"/>
                </a:solidFill>
              </a:rPr>
              <a:t xml:space="preserve"> if any policy says Deny, the request is denied — no exceptions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43159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Default is deny:</a:t>
            </a:r>
            <a:r>
              <a:rPr lang="en-US" sz="1200" dirty="0">
                <a:solidFill>
                  <a:srgbClr val="6C7A89"/>
                </a:solidFill>
              </a:rPr>
              <a:t xml:space="preserve"> no policy allows it = request denied. You only write what to ALLOW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1792" y="4535424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Managed beats inline:</a:t>
            </a:r>
            <a:r>
              <a:rPr lang="en-US" sz="1200" dirty="0">
                <a:solidFill>
                  <a:srgbClr val="6C7A89"/>
                </a:solidFill>
              </a:rPr>
              <a:t xml:space="preserve"> prefer AWS-managed or customer-managed policies — inline ones are hard to audit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Policies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92240" y="256032"/>
            <a:ext cx="21945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92240" y="25603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🔶 AWS Focus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86968"/>
            <a:ext cx="822960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8696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</a:rPr>
              <a:t>Policies are JSON documents attached to users, groups, or roles. Every request is evaluated against ALL applicable policies — and an explicit Deny always beats an Allow.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Key Properties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Default deny — nothing is allowed until a policy allows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Attach to groups, not individual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AWS-managed policies cover common job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02996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0299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✅  Policy Simulator lets you test before deploying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53288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5328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Explicit Deny overrides every Allow — no exceptions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3977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30358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⚠️  "Action": "*" on "Resource": "*" = full admin — use rarely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027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</a:rPr>
              <a:t>Sample Policy Statements — Developer Group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0208"/>
          <a:ext cx="8229600" cy="1082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s3:GetObject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arn:aws:s3:::dev-bucket/*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 dev files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ec2:StartInstances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arn:aws:ec2:*:*:instance/*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 dev servers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s3:DeleteBucket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Block bucket deletion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denied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4360" y="4754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</a:rPr>
              <a:t xml:space="preserve">Azure equivalent: </a:t>
            </a:r>
            <a:r>
              <a:rPr lang="en-US" sz="1100" b="1" dirty="0">
                <a:solidFill>
                  <a:srgbClr val="0078D4"/>
                </a:solidFill>
              </a:rPr>
              <a:t xml:space="preserve">RBAC role assignments — scoped to subscription, resource group, or resource     </a:t>
            </a:r>
            <a:r>
              <a:rPr lang="en-US" sz="1100" dirty="0">
                <a:solidFill>
                  <a:srgbClr val="6C7A89"/>
                </a:solidFill>
              </a:rPr>
              <a:t xml:space="preserve">GCP equivalent: </a:t>
            </a:r>
            <a:r>
              <a:rPr lang="en-US" sz="1100" b="1" dirty="0">
                <a:solidFill>
                  <a:srgbClr val="34A853"/>
                </a:solidFill>
              </a:rPr>
              <a:t>IAM bindings — member + role attached at the project or resource level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MFA, Access Keys &amp; Credential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49440" y="256032"/>
            <a:ext cx="1737360" cy="475488"/>
          </a:xfrm>
          <a:prstGeom prst="roundRect">
            <a:avLst>
              <a:gd name="adj" fmla="val 1923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0" y="2560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🔶 AWS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14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Multi-Factor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075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Something you know (password) plus something you have (authenticator app or hardware key). Enable on root FIRST, then every IAM user. One stolen password should never equal a breach.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Access Keys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Long-term credentials for CLI and API access (AKIA… + secret key). Treat like passwords: never commit to GitHub, never email, never share. Rotate every 90 days.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Managed Policies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Reusable permission documents. AWS-managed (built by AWS, e.g., ReadOnlyAccess) or customer-managed (built by you). One policy → attach to many groups and roles.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4023360" cy="896112"/>
          </a:xfrm>
          <a:prstGeom prst="rect">
            <a:avLst/>
          </a:prstGeom>
          <a:solidFill>
            <a:srgbClr val="F4F8FB"/>
          </a:solidFill>
          <a:ln w="12700">
            <a:solidFill>
              <a:srgbClr val="D6EA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0325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Password Policy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3251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</a:rPr>
              <a:t>Account-wide rules: minimum length, complexity, expiration, reuse prevention. Set once under IAM → Account settings. Applies to every IAM user console password.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</a:rPr>
              <a:t>Permission Check: Allowed Request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298448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Deny?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Allow?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E86C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09160" y="24871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Permission Check: Denied Request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825496"/>
          <a:ext cx="3977640" cy="8077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Says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Deny?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Allow?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4A85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match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709160" y="3767328"/>
            <a:ext cx="3977640" cy="1115568"/>
          </a:xfrm>
          <a:prstGeom prst="roundRect">
            <a:avLst>
              <a:gd name="adj" fmla="val 8197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46320" y="38130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Every AWS request goes through: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4133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F72"/>
                </a:solidFill>
              </a:rPr>
              <a:t>Authenticate (who are you?)  →  Authorize (check policies)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46320" y="4480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</a:rPr>
              <a:t>→  Allow or Deny  →  Action runs 🔶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57200" y="4873752"/>
            <a:ext cx="8229600" cy="201168"/>
          </a:xfrm>
          <a:prstGeom prst="rect">
            <a:avLst/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94360" y="487375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</a:rPr>
              <a:t xml:space="preserve">Azure: Conditional Access policies  </a:t>
            </a:r>
            <a:r>
              <a:rPr lang="en-US" sz="1000" b="1" dirty="0">
                <a:solidFill>
                  <a:srgbClr val="34A853"/>
                </a:solidFill>
              </a:rPr>
              <a:t>│  GCP: Context-aware access for extra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AWS IAM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94960" cy="4005072"/>
          </a:xfrm>
          <a:prstGeom prst="rect">
            <a:avLst/>
          </a:prstGeom>
          <a:solidFill>
            <a:srgbClr val="FFFFFF"/>
          </a:solidFill>
          <a:ln w="25400">
            <a:solidFill>
              <a:srgbClr val="FF990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AWS Account — IAM (Global)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029200" cy="987552"/>
          </a:xfrm>
          <a:prstGeom prst="rect">
            <a:avLst/>
          </a:prstGeom>
          <a:solidFill>
            <a:srgbClr val="FFF8EE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Groups — Humans sign in 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👑 Admins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Full access + MFA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💻 Developers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 resources only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58768" y="1536192"/>
            <a:ext cx="1417320" cy="566928"/>
          </a:xfrm>
          <a:prstGeom prst="roundRect">
            <a:avLst>
              <a:gd name="adj" fmla="val 1129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58768" y="15361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👁️ ReadOnly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Auditors &amp; finance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31720"/>
            <a:ext cx="50292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3682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</a:rPr>
              <a:t>Roles — Services borrow these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⚙️ EC2 Role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 S3 bucket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2615184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0" y="2615184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⚡ Lambda Role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DynamoDB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3346704"/>
            <a:ext cx="5029200" cy="914400"/>
          </a:xfrm>
          <a:prstGeom prst="rect">
            <a:avLst/>
          </a:prstGeom>
          <a:solidFill>
            <a:srgbClr val="E8F8F5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A853"/>
                </a:solidFill>
              </a:rPr>
              <a:t>Policies — Attached to groups &amp; roles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📋 Managed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AWS-built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63931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0" y="3639312"/>
            <a:ext cx="141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📝 Custom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Your JSON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868680"/>
            <a:ext cx="278892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868680"/>
            <a:ext cx="2788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80760" y="868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IAM Design Rules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08192" y="1298448"/>
            <a:ext cx="254203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Root account → MFA on, locked away, never daily 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Humans → users in groups, policies on groups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Services → roles, never access keys in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Least privilege — start narrow, widen only as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MFA on every human user, no exceptions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4F72"/>
                </a:solidFill>
              </a:rPr>
              <a:t>Review access quarterly — remove what is unused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 — vs. Azure &amp; GCP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A89"/>
                </a:solidFill>
              </a:rPr>
              <a:t>Same concept, different names. Once you know AWS IAM, the others map directly.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453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IAM Concept 🔶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AWS Term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Azure Equivalent 🔷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GCP Equivalent 🟢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4A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Identity Service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IAM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Microsoft Entra ID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IAM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Human Identity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IAM User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Entra ID User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Cloud Identity user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User Collection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IAM Group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Entra ID Group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Google Group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Service Identity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IAM Role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Managed Identity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Service Account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Permission Document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Policy (JSON)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RBAC Role Definition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IAM Role (predefined)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Attachment Point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User / Group / Role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Scope: subscription → resource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Binding at project level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Temporary Credentials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STS AssumeRole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Managed Identity token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Short-lived SA token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Extra Conditions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</a:rPr>
                        <a:t>Policy Condition block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Conditional Access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Context-aware access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🔶  Lab 6 — What You're Building in AWS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CE3"/>
                </a:solidFill>
              </a:rPr>
              <a:t>This week's lab locks down a real AWS account using IAM in the AWS Console.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74320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1  ·  3 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Create Users &amp; Groups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Create Users &amp; Groups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group: cis288-developers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Attach managed policy: AmazonS3ReadOnlyAccess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Create user: dev-user1 (console access)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Add dev-user1 to cis288-developers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D6EAF8"/>
                </a:solidFill>
              </a:rPr>
              <a:t>Set a custom account password policy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7355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3552" y="980518"/>
            <a:ext cx="274320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6499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2  ·  3 pts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6551" y="1145110"/>
            <a:ext cx="2560320" cy="189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 a Role &amp; Custom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499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Create a Role &amp; Custom Policy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Write a custom JSON policy: read-only on ONE bucket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Create role cis288-ec2-s3-role for the EC2 service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Attach your custom policy to the role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EAF8"/>
                </a:solidFill>
              </a:rPr>
              <a:t>Test it with the IAM Policy Simulator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9632" y="1005840"/>
            <a:ext cx="2743200" cy="3858768"/>
          </a:xfrm>
          <a:prstGeom prst="rect">
            <a:avLst/>
          </a:prstGeom>
          <a:solidFill>
            <a:srgbClr val="132336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014984"/>
            <a:ext cx="2743200" cy="47548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91072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 3  ·  4 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91072" y="10607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Reflection Questions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91072" y="12618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Reflection Questions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536192"/>
            <a:ext cx="2487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Why attach policies to groups instead of users?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When would you choose a role over an IAM user?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D6EAF8"/>
                </a:solidFill>
              </a:rPr>
              <a:t>Minimum 100 words per question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50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CCE3"/>
                </a:solidFill>
              </a:rPr>
              <a:t>Week 6 — AWS IAM: Users, Groups, Roles &amp; Policies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26187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IAM decides who gets in (authentication) and what they can do (authorization). Every AWS request is checked.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83664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8992" y="1883664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Root account = master key. MFA it, lock it away, use an IAM admin for daily work. Never share access keys.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05456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78992" y="2505456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Attach policies to GROUPS, not users. Add people to groups; remove them when they leave. Clean and auditable.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78992" y="3127248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Roles give temporary credentials to services and apps. EC2 needs S3? Use a role. Never hard-code keys.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74904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8992" y="374904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Policies are JSON: Effect + Action + Resource. Default deny. Explicit Deny always wins.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7083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1323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8992" y="4370832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Least privilege always: start with minimum access, expand only when needed. MFA on every human, every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1578</Words>
  <Application>Microsoft Office PowerPoint</Application>
  <PresentationFormat>On-screen Show (16:9)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288 Week 5 — Networking: VPC, VNet, and Private Networks</dc:title>
  <dc:subject>PptxGenJS Presentation</dc:subject>
  <dc:creator>Professor Sonny Chang</dc:creator>
  <cp:lastModifiedBy>Sonny Chang</cp:lastModifiedBy>
  <cp:revision>3</cp:revision>
  <dcterms:created xsi:type="dcterms:W3CDTF">2026-06-07T22:01:52Z</dcterms:created>
  <dcterms:modified xsi:type="dcterms:W3CDTF">2026-06-07T22:11:58Z</dcterms:modified>
</cp:coreProperties>
</file>